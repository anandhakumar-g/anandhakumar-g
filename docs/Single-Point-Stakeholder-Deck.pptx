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011680"/>
            <a:ext cx="5029200" cy="5029200"/>
          </a:xfrm>
          <a:prstGeom prst="ellipse">
            <a:avLst/>
          </a:prstGeom>
          <a:solidFill>
            <a:srgbClr val="241F33"/>
          </a:solidFill>
          <a:ln w="12700">
            <a:solidFill>
              <a:srgbClr val="24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663440"/>
            <a:ext cx="3840480" cy="3840480"/>
          </a:xfrm>
          <a:prstGeom prst="ellipse">
            <a:avLst/>
          </a:prstGeom>
          <a:solidFill>
            <a:srgbClr val="241F33"/>
          </a:solidFill>
          <a:ln w="12700">
            <a:solidFill>
              <a:srgbClr val="241F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POINT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every request in a gated community — raised, routed, resolved, and paid.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briefing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4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operations run on group chats and spreadsheets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12848"/>
            <a:ext cx="9738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get lost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 reported in a WhatsApp group scrolls away. No reference, no owner, no due date.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52044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447288"/>
            <a:ext cx="9738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can't see progress. Admins can't prove SLAs. Vendors aren't rated.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47548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681728"/>
            <a:ext cx="9738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money trail, no data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changes hands off-book. Nobody can answer “how many tickets last month?”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 ·  stakeholder briefing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4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Every request, resolved.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230880" cy="3291840"/>
          </a:xfrm>
          <a:prstGeom prst="roundRect">
            <a:avLst>
              <a:gd name="adj" fmla="val 2264"/>
            </a:avLst>
          </a:prstGeom>
          <a:solidFill>
            <a:srgbClr val="F5F6F9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633472"/>
            <a:ext cx="268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residents &amp; staff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980944"/>
            <a:ext cx="268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657600"/>
            <a:ext cx="268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ticket in under a minute, track it to closure, rate the vendor, redeem offers, manage your household and your data. Resident, Admin and Provider each get their own app.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65320" y="2377440"/>
            <a:ext cx="3230880" cy="3291840"/>
          </a:xfrm>
          <a:prstGeom prst="roundRect">
            <a:avLst>
              <a:gd name="adj" fmla="val 2264"/>
            </a:avLst>
          </a:prstGeom>
          <a:solidFill>
            <a:srgbClr val="F5F6F9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9640" y="2633472"/>
            <a:ext cx="268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vendors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739640" y="2980944"/>
            <a:ext cx="268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marketplace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39640" y="3657600"/>
            <a:ext cx="268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Super-Admin-verified providers with KYC and tiers. Targeted offers to a community, a group, or named residents. Online or cash payment with receipts.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7680" y="2377440"/>
            <a:ext cx="3230880" cy="3291840"/>
          </a:xfrm>
          <a:prstGeom prst="roundRect">
            <a:avLst>
              <a:gd name="adj" fmla="val 2264"/>
            </a:avLst>
          </a:prstGeom>
          <a:solidFill>
            <a:srgbClr val="F5F6F9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2000" y="2633472"/>
            <a:ext cx="268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operator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82000" y="2980944"/>
            <a:ext cx="268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console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82000" y="3657600"/>
            <a:ext cx="268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communities and vendors, run plans and billing, review the audit trail and platform analytics, export data, watch backups.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 ·  stakeholder briefing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4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roles, one system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68680" y="22402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167128"/>
            <a:ext cx="9738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/ Individual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and tracks requests, books verified vendors, redeems offers, manages household and account. Works with or without a community.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29184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18688"/>
            <a:ext cx="9738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Admin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Triages the queue, manages members, flats and locations, enrols vendors, sends announcements, owns the community's plan. Can run several communities.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43434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270248"/>
            <a:ext cx="9738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assigned jobs, records payment, keeps KYC current, submits offers for approval.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" y="53949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321808"/>
            <a:ext cx="9738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platform: community and vendor onboarding, plans, taxonomy, audit, analytics, exports, backups.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 ·  stakeholder briefing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· RESIDENT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4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“something's broken” to “fixed and rated”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28600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with a category, photo and the exact spot — flat pre-filled.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timeline: acknowledged → assigned → in progress → resolved.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with a 1–5 star rating; reopen if it isn't right.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tab: redeem targeted offers, leave feedback.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inbox with an unread badge for every update.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data — download it, or delete your account.</a:t>
            </a:r>
            <a:endParaRPr lang="en-US" sz="1350" dirty="0"/>
          </a:p>
        </p:txBody>
      </p:sp>
      <p:pic>
        <p:nvPicPr>
          <p:cNvPr id="5" name="Image 0" descr="C:\Users\anand\AppData\Local\Temp\claude\F--DCC-UAT-dcc-project\efd70245-91d9-4c44-83e0-358ab970556a\scratchpad\shots\m3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2331720" cy="4983480"/>
          </a:xfrm>
          <a:prstGeom prst="ellipse">
            <a:avLst/>
          </a:prstGeom>
          <a:effectLst>
            <a:outerShdw sx="100000" sy="100000" kx="0" ky="0" algn="bl" rotWithShape="0" blurRad="152400" dist="38100" dir="5400000">
              <a:srgbClr val="9AA0B0">
                <a:alpha val="4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 ·  stakeholder briefing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· COMMUNITY ADMIN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4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queue that tells you what needs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28600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ticket in one list with New / Assigned / Active / Resolved filters.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surfaced: unassigned, SLA-breached, join requests.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Acknowledge, assign to a verified vendor, reroute, or resolve in-house.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with a hard bill / open-ticket check before removal.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— now or scheduled, with a cooldown and daily cap.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 plan, usage vs limits, upgrade, pay an invoice.</a:t>
            </a:r>
            <a:endParaRPr lang="en-US" sz="1350" dirty="0"/>
          </a:p>
        </p:txBody>
      </p:sp>
      <p:pic>
        <p:nvPicPr>
          <p:cNvPr id="5" name="Image 0" descr="C:\Users\anand\AppData\Local\Temp\claude\F--DCC-UAT-dcc-project\efd70245-91d9-4c44-83e0-358ab970556a\scratchpad\shots\m10-admin-que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2331720" cy="4983480"/>
          </a:xfrm>
          <a:prstGeom prst="ellipse">
            <a:avLst/>
          </a:prstGeom>
          <a:effectLst>
            <a:outerShdw sx="100000" sy="100000" kx="0" ky="0" algn="bl" rotWithShape="0" blurRad="152400" dist="38100" dir="5400000">
              <a:srgbClr val="9AA0B0">
                <a:alpha val="4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 ·  stakeholder briefing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· SERVICE PROVIDER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4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Accept, do the work, get paid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286000"/>
            <a:ext cx="6126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arrive as assigned with a push; accept or decline.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it: en route → in progress → resolved with notes.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Payment: a card link the resident pays, or a cash one-time-code handshake.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receipt is issued automatically on settlement.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documents tracked Pending → Accepted; availability and categories self-served.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offers for Super Admin approval.</a:t>
            </a:r>
            <a:endParaRPr lang="en-US" sz="1350" dirty="0"/>
          </a:p>
        </p:txBody>
      </p:sp>
      <p:pic>
        <p:nvPicPr>
          <p:cNvPr id="5" name="Image 0" descr="C:\Users\anand\AppData\Local\Temp\claude\F--DCC-UAT-dcc-project\efd70245-91d9-4c44-83e0-358ab970556a\scratchpad\shots\m13-provider-jo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371600"/>
            <a:ext cx="2331720" cy="4983480"/>
          </a:xfrm>
          <a:prstGeom prst="ellipse">
            <a:avLst/>
          </a:prstGeom>
          <a:effectLst>
            <a:outerShdw sx="100000" sy="100000" kx="0" ky="0" algn="bl" rotWithShape="0" blurRad="152400" dist="38100" dir="5400000">
              <a:srgbClr val="9AA0B0">
                <a:alpha val="4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 ·  stakeholder briefing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operator sees and steers everything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286000"/>
            <a:ext cx="6035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community self-onboarding; the requester becomes its admin.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vendors, review KYC, set tiers.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plans and entitlements; comp, cancel, reconcile invoices.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audit log of every privileged action and PII read.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analytics: tickets, offers, users, revenue, MRR.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exports and a live database-backup status.</a:t>
            </a:r>
            <a:endParaRPr lang="en-US" sz="1350" dirty="0"/>
          </a:p>
        </p:txBody>
      </p:sp>
      <p:pic>
        <p:nvPicPr>
          <p:cNvPr id="5" name="Image 0" descr="C:\Users\anand\AppData\Local\Temp\claude\F--DCC-UAT-dcc-project\efd70245-91d9-4c44-83e0-358ab970556a\scratchpad\shots\c2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148840"/>
            <a:ext cx="4206240" cy="2807208"/>
          </a:xfrm>
          <a:prstGeom prst="ellipse">
            <a:avLst/>
          </a:prstGeom>
          <a:effectLst>
            <a:outerShdw sx="100000" sy="100000" kx="0" ky="0" algn="bl" rotWithShape="0" blurRad="152400" dist="38100" dir="5400000">
              <a:srgbClr val="9AA0B0">
                <a:alpha val="4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 ·  stakeholder briefing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ENGINE · MARKETPLACE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4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vendors and offers that actually land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3230880" cy="3108960"/>
          </a:xfrm>
          <a:prstGeom prst="roundRect">
            <a:avLst>
              <a:gd name="adj" fmla="val 2353"/>
            </a:avLst>
          </a:prstGeom>
          <a:solidFill>
            <a:srgbClr val="F5F6F9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724912"/>
            <a:ext cx="268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072384"/>
            <a:ext cx="268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+ KYC + tiers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749040"/>
            <a:ext cx="2682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Super-Admin-verified vendors are assignable. FEATURED vendors surface first. Every job is rated, feeding a running score.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65320" y="2468880"/>
            <a:ext cx="3230880" cy="3108960"/>
          </a:xfrm>
          <a:prstGeom prst="roundRect">
            <a:avLst>
              <a:gd name="adj" fmla="val 2353"/>
            </a:avLst>
          </a:prstGeom>
          <a:solidFill>
            <a:srgbClr val="F5F6F9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9640" y="2724912"/>
            <a:ext cx="268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739640" y="3072384"/>
            <a:ext cx="268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residents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39640" y="3749040"/>
            <a:ext cx="2682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to one community, a set of communities, named residents by phone, or everyone — with a global redemption cap and per-resident feedback.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7680" y="2468880"/>
            <a:ext cx="3230880" cy="3108960"/>
          </a:xfrm>
          <a:prstGeom prst="roundRect">
            <a:avLst>
              <a:gd name="adj" fmla="val 2353"/>
            </a:avLst>
          </a:prstGeom>
          <a:solidFill>
            <a:srgbClr val="F5F6F9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2000" y="2724912"/>
            <a:ext cx="268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382000" y="3072384"/>
            <a:ext cx="268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+ WhatsApp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82000" y="3749040"/>
            <a:ext cx="2682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offers can go to WhatsApp for residents who opt in, gated by the community's entitlement and a weekly cap.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 ·  stakeholder briefing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ENGINE · BILLING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billing, built in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286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186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spc="200" kern="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COMMUNITY, PER VENDOR, PER RESIDENT — WITH NUMERIC ENTITLEMENT LIMITS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480560" y="2286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Auto-charge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321868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spc="200" kern="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SUBSCRIPTIONS MANDATE; THE GATEWAY DRIVES RENEWAL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changes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321868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spc="200" kern="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MID-CYCLE UPGRADES PRORATED; PAST-DUE DUNNING AT DAY 1 / 3 / 6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7091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already shows a “recurring” state, a next-charge date, and due invoices. MRR is a first-class dashboard metric.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 ·  stakeholder briefing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4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notification pipeline, four ways out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28600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transactional outbox — nothing is lost if a channel is down.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inbox with unread counts on every screen.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(Expo) for real-time updates.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for opt-in promo offers, entitlement-gated.</a:t>
            </a:r>
            <a:endParaRPr lang="en-US" sz="13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 to a community, all admins, or all users — send now or schedule, with cancel.</a:t>
            </a:r>
            <a:endParaRPr lang="en-US" sz="1350" dirty="0"/>
          </a:p>
        </p:txBody>
      </p:sp>
      <p:pic>
        <p:nvPicPr>
          <p:cNvPr id="5" name="Image 0" descr="C:\Users\anand\AppData\Local\Temp\claude\F--DCC-UAT-dcc-project\efd70245-91d9-4c44-83e0-358ab970556a\scratchpad\shots\c7-broadcas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103120"/>
            <a:ext cx="3931920" cy="2624328"/>
          </a:xfrm>
          <a:prstGeom prst="ellipse">
            <a:avLst/>
          </a:prstGeom>
          <a:effectLst>
            <a:outerShdw sx="100000" sy="100000" kx="0" ky="0" algn="bl" rotWithShape="0" blurRad="152400" dist="38100" dir="5400000">
              <a:srgbClr val="9AA0B0">
                <a:alpha val="4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 ·  stakeholder briefing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COMPLIANCE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4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many communities on one system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3261360" cy="1783080"/>
          </a:xfrm>
          <a:prstGeom prst="roundRect">
            <a:avLst>
              <a:gd name="adj" fmla="val 3590"/>
            </a:avLst>
          </a:prstGeom>
          <a:solidFill>
            <a:srgbClr val="EEF0FF"/>
          </a:solidFill>
          <a:ln w="12700">
            <a:solidFill>
              <a:srgbClr val="E0E2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53288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008376"/>
            <a:ext cx="280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row-level security on every sensitive table; policies fail closed.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50080" y="2331720"/>
            <a:ext cx="3261360" cy="1783080"/>
          </a:xfrm>
          <a:prstGeom prst="roundRect">
            <a:avLst>
              <a:gd name="adj" fmla="val 3590"/>
            </a:avLst>
          </a:prstGeom>
          <a:solidFill>
            <a:srgbClr val="EEF0FF"/>
          </a:solidFill>
          <a:ln w="12700">
            <a:solidFill>
              <a:srgbClr val="E0E2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78680" y="253288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encryption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78680" y="3008376"/>
            <a:ext cx="280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and free-text encrypted at rest (AES-GCM), searchable by hash.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77200" y="2331720"/>
            <a:ext cx="3261360" cy="1783080"/>
          </a:xfrm>
          <a:prstGeom prst="roundRect">
            <a:avLst>
              <a:gd name="adj" fmla="val 3590"/>
            </a:avLst>
          </a:prstGeom>
          <a:solidFill>
            <a:srgbClr val="EEF0FF"/>
          </a:solidFill>
          <a:ln w="12700">
            <a:solidFill>
              <a:srgbClr val="E0E2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5800" y="253288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rotation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305800" y="3008376"/>
            <a:ext cx="280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keyring; re-wrap job rotates keys with no downtime or migration.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4434840"/>
            <a:ext cx="3261360" cy="1783080"/>
          </a:xfrm>
          <a:prstGeom prst="roundRect">
            <a:avLst>
              <a:gd name="adj" fmla="val 3590"/>
            </a:avLst>
          </a:prstGeom>
          <a:solidFill>
            <a:srgbClr val="EEF0FF"/>
          </a:solidFill>
          <a:ln w="12700">
            <a:solidFill>
              <a:srgbClr val="E0E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63600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111496"/>
            <a:ext cx="280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record of every privileged action and PII read.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50080" y="4434840"/>
            <a:ext cx="3261360" cy="1783080"/>
          </a:xfrm>
          <a:prstGeom prst="roundRect">
            <a:avLst>
              <a:gd name="adj" fmla="val 3590"/>
            </a:avLst>
          </a:prstGeom>
          <a:solidFill>
            <a:srgbClr val="EEF0FF"/>
          </a:solidFill>
          <a:ln w="12700">
            <a:solidFill>
              <a:srgbClr val="E0E2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78680" y="463600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control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78680" y="5111496"/>
            <a:ext cx="280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signed-in device; revoke one or all others.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77200" y="4434840"/>
            <a:ext cx="3261360" cy="1783080"/>
          </a:xfrm>
          <a:prstGeom prst="roundRect">
            <a:avLst>
              <a:gd name="adj" fmla="val 3590"/>
            </a:avLst>
          </a:prstGeom>
          <a:solidFill>
            <a:srgbClr val="EEF0FF"/>
          </a:solidFill>
          <a:ln w="12700">
            <a:solidFill>
              <a:srgbClr val="E0E2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05800" y="4636008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rights + backups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305800" y="5111496"/>
            <a:ext cx="280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data export and account deletion; scheduled pg_dump → S3.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 ·  stakeholder briefing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proven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377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3101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spc="200" kern="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MILESTONES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spc="200" kern="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END-TO-END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2377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33101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spc="200" kern="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BACKEND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spc="200" kern="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TESTS, GREEN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377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33101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spc="200" kern="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DATABASE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spc="200" kern="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235440" y="2377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9235440" y="33101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spc="200" kern="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ON ONE API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spc="200" kern="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(IOS · ANDROID · WEB)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7548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in 41 architecture decision records; the API is documented in OpenAPI and a runnable Postman collection.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 ·  stakeholder briefing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4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boring, dependable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2743200" cy="1371600"/>
          </a:xfrm>
          <a:prstGeom prst="roundRect">
            <a:avLst>
              <a:gd name="adj" fmla="val 4667"/>
            </a:avLst>
          </a:prstGeom>
          <a:solidFill>
            <a:srgbClr val="F5F6F9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46888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
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· Admin · Provider · Super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402336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F5F6F9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4023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
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3383280"/>
            <a:ext cx="1280160" cy="0"/>
          </a:xfrm>
          <a:prstGeom prst="line">
            <a:avLst/>
          </a:prstGeom>
          <a:noFill/>
          <a:ln w="19050">
            <a:solidFill>
              <a:srgbClr val="8A92A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66160" y="4480560"/>
            <a:ext cx="1280160" cy="-640080"/>
          </a:xfrm>
          <a:prstGeom prst="line">
            <a:avLst/>
          </a:prstGeom>
          <a:noFill/>
          <a:ln w="19050">
            <a:solidFill>
              <a:srgbClr val="8A92A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46320" y="2788920"/>
            <a:ext cx="2743200" cy="1554480"/>
          </a:xfrm>
          <a:prstGeom prst="roundRect">
            <a:avLst>
              <a:gd name="adj" fmla="val 4118"/>
            </a:avLst>
          </a:prstGeom>
          <a:solidFill>
            <a:srgbClr val="4F46E5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278892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
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JWT + OTP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method-level authorization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0" y="3566160"/>
            <a:ext cx="1188720" cy="0"/>
          </a:xfrm>
          <a:prstGeom prst="line">
            <a:avLst/>
          </a:prstGeom>
          <a:noFill/>
          <a:ln w="19050">
            <a:solidFill>
              <a:srgbClr val="8A92A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78240" y="2788920"/>
            <a:ext cx="2651760" cy="1554480"/>
          </a:xfrm>
          <a:prstGeom prst="roundRect">
            <a:avLst>
              <a:gd name="adj" fmla="val 4118"/>
            </a:avLst>
          </a:prstGeom>
          <a:solidFill>
            <a:srgbClr val="14121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15400" y="2788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
</a:t>
            </a:r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community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behind interfaces:  Razorpay (payments + subscriptions)  ·  S3 (files + backups)  ·  Expo (push)  ·  WhatsApp / SMS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 ·  stakeholder briefing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14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near-term roadmap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68680" y="22860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212848"/>
            <a:ext cx="9738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lifestyle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 bookings, visitor passes, notices board, polls — the resident-engagement layer.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33756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264408"/>
            <a:ext cx="9738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Sellable resident plans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billing subject and free plan already ship; turn on a paid tier with a pricing config.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43891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4315968"/>
            <a:ext cx="9738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builds + push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builds for iOS / Android with real push registration; biometric unlock hardened.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8680" y="544068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5367528"/>
            <a:ext cx="9738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4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 &amp; regions
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Currency, phone and language beyond the current India defaults.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 ·  stakeholder briefing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09441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2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3749040"/>
            <a:ext cx="5486400" cy="5486400"/>
          </a:xfrm>
          <a:prstGeom prst="ellipse">
            <a:avLst/>
          </a:prstGeom>
          <a:solidFill>
            <a:srgbClr val="241F33"/>
          </a:solidFill>
          <a:ln w="12700">
            <a:solidFill>
              <a:srgbClr val="241F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run a pilot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56616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communities for a 60-day pilot — onboarding, tickets, one vendor, billing on.</a:t>
            </a:r>
            <a:endParaRPr lang="en-US" sz="140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admin per community and 2–3 vendors to verify.</a:t>
            </a:r>
            <a:endParaRPr lang="en-US" sz="140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B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on the success metrics: time-to-resolve, resident activation, vendor rating.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 ·  stakeholder briefing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2026-09-06T12:58:56Z</dcterms:created>
  <dcterms:modified xsi:type="dcterms:W3CDTF">2026-09-06T12:58:56Z</dcterms:modified>
</cp:coreProperties>
</file>